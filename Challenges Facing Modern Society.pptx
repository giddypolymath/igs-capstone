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07223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57250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3474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4033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675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7820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411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2217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44860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1278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61503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54000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39506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66244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99881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23896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739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9EC434-5B5F-4F7E-B02F-8296A87A4A89}" type="datetimeFigureOut">
              <a:rPr lang="en-KE" smtClean="0"/>
              <a:t>13/02/2026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BDC632-5028-43AA-A801-D3826A6C36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2873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F891-CE93-439E-892A-D3EBF3CE5E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Challenges Facing Modern Society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28169-E9BB-4F86-82A3-53E0D175A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Challenges &amp; Solutions</a:t>
            </a:r>
            <a:endParaRPr lang="en-K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31BC3-75E4-42F4-B87A-C5FA0796B5E5}"/>
              </a:ext>
            </a:extLst>
          </p:cNvPr>
          <p:cNvSpPr txBox="1"/>
          <p:nvPr/>
        </p:nvSpPr>
        <p:spPr>
          <a:xfrm>
            <a:off x="8009199" y="5477932"/>
            <a:ext cx="41828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Rounded MT Bold" panose="020F0704030504030204" pitchFamily="34" charset="0"/>
              </a:rPr>
              <a:t>GIDEON NYAKUNDI</a:t>
            </a:r>
          </a:p>
          <a:p>
            <a:r>
              <a:rPr lang="en-US" sz="2800" b="1" dirty="0">
                <a:latin typeface="Arial Rounded MT Bold" panose="020F0704030504030204" pitchFamily="34" charset="0"/>
              </a:rPr>
              <a:t>C026-01-0979/2022</a:t>
            </a:r>
            <a:endParaRPr lang="en-KE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377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99B-6AF6-4402-A252-F90BB6F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30696"/>
            <a:ext cx="10018713" cy="1027042"/>
          </a:xfrm>
        </p:spPr>
        <p:txBody>
          <a:bodyPr>
            <a:normAutofit/>
          </a:bodyPr>
          <a:lstStyle/>
          <a:p>
            <a:r>
              <a:rPr lang="en-US" b="1" dirty="0"/>
              <a:t>Rapid Technological Change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3FC1-4D2C-4F91-9201-A274B15B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7739"/>
            <a:ext cx="10018713" cy="4969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Technology is advancing faster than society can adapt.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Challenges include: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Job displacement due to automation and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divide between those with access to technology and those without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Cybercrime, data breaches, and loss of privacy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Overdependence on technology reducing human interaction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83742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99B-6AF6-4402-A252-F90BB6F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30696"/>
            <a:ext cx="10018713" cy="1053547"/>
          </a:xfrm>
        </p:spPr>
        <p:txBody>
          <a:bodyPr>
            <a:normAutofit/>
          </a:bodyPr>
          <a:lstStyle/>
          <a:p>
            <a:r>
              <a:rPr lang="en-US" b="1" dirty="0"/>
              <a:t>Poor Communication and Misinformation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3FC1-4D2C-4F91-9201-A274B15B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3513"/>
            <a:ext cx="10018713" cy="48237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Despite social media and instant messaging, </a:t>
            </a:r>
            <a:r>
              <a:rPr lang="en-US" b="1" dirty="0"/>
              <a:t>meaningful communication is declining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issues:</a:t>
            </a:r>
            <a:endParaRPr lang="en-US" dirty="0"/>
          </a:p>
          <a:p>
            <a:r>
              <a:rPr lang="en-US" dirty="0"/>
              <a:t>Spread of fake news and propaganda</a:t>
            </a:r>
          </a:p>
          <a:p>
            <a:r>
              <a:rPr lang="en-US" dirty="0"/>
              <a:t>Misuse of social media for hate speech and division</a:t>
            </a:r>
          </a:p>
          <a:p>
            <a:r>
              <a:rPr lang="en-US" dirty="0"/>
              <a:t>Weak listening and dialogue skills</a:t>
            </a:r>
          </a:p>
          <a:p>
            <a:r>
              <a:rPr lang="en-US" dirty="0"/>
              <a:t>Cultural misunderstandings in a globalized world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83610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99B-6AF6-4402-A252-F90BB6F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4800"/>
            <a:ext cx="10018713" cy="9939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Environmental Degradation and Climate Change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3FC1-4D2C-4F91-9201-A274B15B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8713"/>
            <a:ext cx="10018713" cy="51285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Human activities are putting extreme pressure on the environment.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Major concerns: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Climate change and unpredictable weather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Pollution of air, water, and 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Deforestation and loss of biodiversity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waste management, especially in urban areas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64877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99B-6AF6-4402-A252-F90BB6F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30696"/>
            <a:ext cx="10018713" cy="987287"/>
          </a:xfrm>
        </p:spPr>
        <p:txBody>
          <a:bodyPr>
            <a:normAutofit/>
          </a:bodyPr>
          <a:lstStyle/>
          <a:p>
            <a:r>
              <a:rPr lang="en-US" b="1" dirty="0"/>
              <a:t>Health Challenges and Lifestyle Diseases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3FC1-4D2C-4F91-9201-A274B15B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3757"/>
            <a:ext cx="10018713" cy="48635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Modern lifestyles have introduced new health problems.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Increase in stress, depression, and anxiety</a:t>
            </a:r>
          </a:p>
          <a:p>
            <a:r>
              <a:rPr lang="en-US" dirty="0"/>
              <a:t>Lifestyle diseases like diabetes and hypertension</a:t>
            </a:r>
          </a:p>
          <a:p>
            <a:r>
              <a:rPr lang="en-US" dirty="0"/>
              <a:t>Weak healthcare systems in many developing countries</a:t>
            </a:r>
          </a:p>
          <a:p>
            <a:r>
              <a:rPr lang="en-US" dirty="0"/>
              <a:t>Neglect of traditional and preventive health practices</a:t>
            </a:r>
          </a:p>
        </p:txBody>
      </p:sp>
    </p:spTree>
    <p:extLst>
      <p:ext uri="{BB962C8B-B14F-4D97-AF65-F5344CB8AC3E}">
        <p14:creationId xmlns:p14="http://schemas.microsoft.com/office/powerpoint/2010/main" val="56414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99B-6AF6-4402-A252-F90BB6F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30696"/>
            <a:ext cx="10018713" cy="881269"/>
          </a:xfrm>
        </p:spPr>
        <p:txBody>
          <a:bodyPr>
            <a:normAutofit/>
          </a:bodyPr>
          <a:lstStyle/>
          <a:p>
            <a:r>
              <a:rPr lang="en-US" b="1" dirty="0"/>
              <a:t>Cultural Erosion and Identity Crisis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3FC1-4D2C-4F91-9201-A274B15B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3513"/>
            <a:ext cx="10018713" cy="48237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Globalization is slowly eroding local cultures.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Challenges include:</a:t>
            </a:r>
            <a:endParaRPr lang="en-US" dirty="0"/>
          </a:p>
          <a:p>
            <a:r>
              <a:rPr lang="en-US" dirty="0"/>
              <a:t>Loss of indigenous languages</a:t>
            </a:r>
          </a:p>
          <a:p>
            <a:r>
              <a:rPr lang="en-US" dirty="0"/>
              <a:t>Decline in traditional values and practices</a:t>
            </a:r>
          </a:p>
          <a:p>
            <a:r>
              <a:rPr lang="en-US" dirty="0"/>
              <a:t>Youth identity confusion</a:t>
            </a:r>
          </a:p>
          <a:p>
            <a:r>
              <a:rPr lang="en-US" dirty="0"/>
              <a:t>Over-adoption of foreign lifestyles without critical evaluation</a:t>
            </a:r>
          </a:p>
        </p:txBody>
      </p:sp>
    </p:spTree>
    <p:extLst>
      <p:ext uri="{BB962C8B-B14F-4D97-AF65-F5344CB8AC3E}">
        <p14:creationId xmlns:p14="http://schemas.microsoft.com/office/powerpoint/2010/main" val="46001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99B-6AF6-4402-A252-F90BB6F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30696"/>
            <a:ext cx="10018713" cy="894521"/>
          </a:xfrm>
        </p:spPr>
        <p:txBody>
          <a:bodyPr>
            <a:normAutofit/>
          </a:bodyPr>
          <a:lstStyle/>
          <a:p>
            <a:r>
              <a:rPr lang="en-US" b="1" dirty="0"/>
              <a:t>Ethical and Moral Decline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3FC1-4D2C-4F91-9201-A274B15B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25217"/>
            <a:ext cx="10018713" cy="51020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Modern society struggles with ethical decision-making.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Manifestations:</a:t>
            </a:r>
            <a:endParaRPr lang="en-US" dirty="0"/>
          </a:p>
          <a:p>
            <a:r>
              <a:rPr lang="en-US" dirty="0"/>
              <a:t>Corruption and misuse of power</a:t>
            </a:r>
          </a:p>
          <a:p>
            <a:r>
              <a:rPr lang="en-US" dirty="0"/>
              <a:t>Materialism and greed</a:t>
            </a:r>
          </a:p>
          <a:p>
            <a:r>
              <a:rPr lang="en-US" dirty="0"/>
              <a:t>Weak moral responsibility in leadership</a:t>
            </a:r>
          </a:p>
          <a:p>
            <a:r>
              <a:rPr lang="en-US" dirty="0"/>
              <a:t>Decline in communal values (individualism over community)</a:t>
            </a:r>
          </a:p>
        </p:txBody>
      </p:sp>
    </p:spTree>
    <p:extLst>
      <p:ext uri="{BB962C8B-B14F-4D97-AF65-F5344CB8AC3E}">
        <p14:creationId xmlns:p14="http://schemas.microsoft.com/office/powerpoint/2010/main" val="320157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99B-6AF6-4402-A252-F90BB6F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56590"/>
            <a:ext cx="10018713" cy="795131"/>
          </a:xfrm>
        </p:spPr>
        <p:txBody>
          <a:bodyPr>
            <a:normAutofit/>
          </a:bodyPr>
          <a:lstStyle/>
          <a:p>
            <a:r>
              <a:rPr lang="en-US" b="1" dirty="0"/>
              <a:t>Education and Skills Mismatch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3FC1-4D2C-4F91-9201-A274B15B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51721"/>
            <a:ext cx="10018713" cy="50755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Education systems are not always aligned with real-world needs.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Problems:</a:t>
            </a:r>
            <a:endParaRPr lang="en-US" dirty="0"/>
          </a:p>
          <a:p>
            <a:r>
              <a:rPr lang="en-US" dirty="0"/>
              <a:t>Graduates lacking practical skills</a:t>
            </a:r>
          </a:p>
          <a:p>
            <a:r>
              <a:rPr lang="en-US" dirty="0"/>
              <a:t>Overemphasis on theory</a:t>
            </a:r>
          </a:p>
          <a:p>
            <a:r>
              <a:rPr lang="en-US" dirty="0"/>
              <a:t>Limited critical thinking and creativity</a:t>
            </a:r>
          </a:p>
          <a:p>
            <a:r>
              <a:rPr lang="en-US" dirty="0"/>
              <a:t>Inequality in access to quality education</a:t>
            </a:r>
          </a:p>
        </p:txBody>
      </p:sp>
    </p:spTree>
    <p:extLst>
      <p:ext uri="{BB962C8B-B14F-4D97-AF65-F5344CB8AC3E}">
        <p14:creationId xmlns:p14="http://schemas.microsoft.com/office/powerpoint/2010/main" val="3567608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042B-47D4-48EE-8AB3-F3F6D454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</a:t>
            </a:r>
            <a:endParaRPr lang="en-K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E508E-F53C-449F-94F2-13C90D45F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Challenges Facing Modern Society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21453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51F9-1DAD-4987-A034-8C355D6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4704"/>
          </a:xfrm>
        </p:spPr>
        <p:txBody>
          <a:bodyPr/>
          <a:lstStyle/>
          <a:p>
            <a:r>
              <a:rPr lang="en-US" b="1" dirty="0"/>
              <a:t>Managing Rapid Technological Change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0FC-A95A-4904-90F2-4B109B8B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9043"/>
            <a:ext cx="10018713" cy="4383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Suggested solutions:</a:t>
            </a:r>
            <a:endParaRPr lang="en-US" dirty="0"/>
          </a:p>
          <a:p>
            <a:r>
              <a:rPr lang="en-US" dirty="0"/>
              <a:t>Introduce </a:t>
            </a:r>
            <a:r>
              <a:rPr lang="en-US" b="1" dirty="0"/>
              <a:t>digital literacy and ICT training</a:t>
            </a:r>
            <a:r>
              <a:rPr lang="en-US" dirty="0"/>
              <a:t> at all education levels</a:t>
            </a:r>
          </a:p>
          <a:p>
            <a:r>
              <a:rPr lang="en-US" dirty="0"/>
              <a:t>Encourage </a:t>
            </a:r>
            <a:r>
              <a:rPr lang="en-US" b="1" dirty="0"/>
              <a:t>reskilling and upskilling</a:t>
            </a:r>
            <a:r>
              <a:rPr lang="en-US" dirty="0"/>
              <a:t> to prepare people for new jobs</a:t>
            </a:r>
          </a:p>
          <a:p>
            <a:r>
              <a:rPr lang="en-US" dirty="0"/>
              <a:t>Develop and enforce </a:t>
            </a:r>
            <a:r>
              <a:rPr lang="en-US" b="1" dirty="0"/>
              <a:t>ethical guidelines for AI and technology use</a:t>
            </a:r>
            <a:endParaRPr lang="en-US" dirty="0"/>
          </a:p>
          <a:p>
            <a:r>
              <a:rPr lang="en-US" dirty="0"/>
              <a:t>Expand affordable internet and devices to reduce the </a:t>
            </a:r>
            <a:r>
              <a:rPr lang="en-US" b="1" dirty="0"/>
              <a:t>digital divide</a:t>
            </a:r>
            <a:endParaRPr lang="en-US" dirty="0"/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3231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51F9-1DAD-4987-A034-8C355D6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47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Improving Communication and Combating Misinformation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0FC-A95A-4904-90F2-4B109B8B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9043"/>
            <a:ext cx="10018713" cy="4383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Suggested solutions:</a:t>
            </a:r>
            <a:endParaRPr lang="en-US" dirty="0"/>
          </a:p>
          <a:p>
            <a:r>
              <a:rPr lang="en-US" dirty="0"/>
              <a:t>Teach </a:t>
            </a:r>
            <a:r>
              <a:rPr lang="en-US" b="1" dirty="0"/>
              <a:t>critical media literacy</a:t>
            </a:r>
            <a:r>
              <a:rPr lang="en-US" dirty="0"/>
              <a:t> to help people identify fake news</a:t>
            </a:r>
          </a:p>
          <a:p>
            <a:r>
              <a:rPr lang="en-US" dirty="0"/>
              <a:t>Promote responsible use of social media and digital platforms</a:t>
            </a:r>
          </a:p>
          <a:p>
            <a:r>
              <a:rPr lang="en-US" dirty="0"/>
              <a:t>Strengthen communication skills: listening, dialogue, and empathy</a:t>
            </a:r>
          </a:p>
          <a:p>
            <a:r>
              <a:rPr lang="en-US" dirty="0"/>
              <a:t>Enforce laws against hate speech and harmful misinformation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8362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51F9-1DAD-4987-A034-8C355D6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47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Protecting the Environment and Addressing Climate Change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0FC-A95A-4904-90F2-4B109B8B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9043"/>
            <a:ext cx="10018713" cy="4383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Suggested solutions:</a:t>
            </a:r>
            <a:endParaRPr lang="en-US" dirty="0"/>
          </a:p>
          <a:p>
            <a:r>
              <a:rPr lang="en-US" dirty="0"/>
              <a:t>Promote </a:t>
            </a:r>
            <a:r>
              <a:rPr lang="en-US" b="1" dirty="0"/>
              <a:t>environmental education</a:t>
            </a:r>
            <a:r>
              <a:rPr lang="en-US" dirty="0"/>
              <a:t> and awareness</a:t>
            </a:r>
          </a:p>
          <a:p>
            <a:r>
              <a:rPr lang="en-US" dirty="0"/>
              <a:t>Adopt </a:t>
            </a:r>
            <a:r>
              <a:rPr lang="en-US" b="1" dirty="0"/>
              <a:t>renewable energy sources</a:t>
            </a:r>
            <a:r>
              <a:rPr lang="en-US" dirty="0"/>
              <a:t> (solar, wind, biogas)</a:t>
            </a:r>
          </a:p>
          <a:p>
            <a:r>
              <a:rPr lang="en-US" dirty="0"/>
              <a:t>Support </a:t>
            </a:r>
            <a:r>
              <a:rPr lang="en-US" b="1" dirty="0"/>
              <a:t>traditional African conservation practices</a:t>
            </a:r>
            <a:endParaRPr lang="en-US" dirty="0"/>
          </a:p>
          <a:p>
            <a:r>
              <a:rPr lang="en-US" dirty="0"/>
              <a:t>Enforce environmental laws and proper waste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892813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51F9-1DAD-4987-A034-8C355D6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4704"/>
          </a:xfrm>
        </p:spPr>
        <p:txBody>
          <a:bodyPr>
            <a:normAutofit/>
          </a:bodyPr>
          <a:lstStyle/>
          <a:p>
            <a:r>
              <a:rPr lang="en-US" b="1" dirty="0"/>
              <a:t>Improving Health and Well-Being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0FC-A95A-4904-90F2-4B109B8B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9043"/>
            <a:ext cx="10018713" cy="4383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Suggested solutions:</a:t>
            </a:r>
            <a:endParaRPr lang="en-US" dirty="0"/>
          </a:p>
          <a:p>
            <a:r>
              <a:rPr lang="en-US" dirty="0"/>
              <a:t>Promote </a:t>
            </a:r>
            <a:r>
              <a:rPr lang="en-US" b="1" dirty="0"/>
              <a:t>preventive healthcare</a:t>
            </a:r>
            <a:r>
              <a:rPr lang="en-US" dirty="0"/>
              <a:t> and healthy lifestyles</a:t>
            </a:r>
          </a:p>
          <a:p>
            <a:r>
              <a:rPr lang="en-US" dirty="0"/>
              <a:t>Strengthen healthcare infrastructure and access</a:t>
            </a:r>
          </a:p>
          <a:p>
            <a:r>
              <a:rPr lang="en-US" dirty="0"/>
              <a:t>Integrate </a:t>
            </a:r>
            <a:r>
              <a:rPr lang="en-US" b="1" dirty="0"/>
              <a:t>safe traditional medicine</a:t>
            </a:r>
            <a:r>
              <a:rPr lang="en-US" dirty="0"/>
              <a:t> with modern healthcare</a:t>
            </a:r>
          </a:p>
          <a:p>
            <a:r>
              <a:rPr lang="en-US" dirty="0"/>
              <a:t>Address mental health through counseling and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185395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51F9-1DAD-4987-A034-8C355D6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4704"/>
          </a:xfrm>
        </p:spPr>
        <p:txBody>
          <a:bodyPr>
            <a:normAutofit/>
          </a:bodyPr>
          <a:lstStyle/>
          <a:p>
            <a:r>
              <a:rPr lang="en-US" b="1" dirty="0"/>
              <a:t>Preserving Culture and Identity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0FC-A95A-4904-90F2-4B109B8B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9043"/>
            <a:ext cx="10018713" cy="4383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Suggested solutions:</a:t>
            </a:r>
            <a:endParaRPr lang="en-US" dirty="0"/>
          </a:p>
          <a:p>
            <a:r>
              <a:rPr lang="en-US" dirty="0"/>
              <a:t>Promote </a:t>
            </a:r>
            <a:r>
              <a:rPr lang="en-US" b="1" dirty="0"/>
              <a:t>African languages, arts, and cultural education</a:t>
            </a:r>
            <a:endParaRPr lang="en-US" dirty="0"/>
          </a:p>
          <a:p>
            <a:r>
              <a:rPr lang="en-US" dirty="0"/>
              <a:t>Support local content in film, music, and literature</a:t>
            </a:r>
          </a:p>
          <a:p>
            <a:r>
              <a:rPr lang="en-US" dirty="0"/>
              <a:t>Encourage youth participation in cultural activities</a:t>
            </a:r>
          </a:p>
          <a:p>
            <a:r>
              <a:rPr lang="en-US" dirty="0"/>
              <a:t>Use technology to </a:t>
            </a:r>
            <a:r>
              <a:rPr lang="en-US" b="1" dirty="0"/>
              <a:t>document and preserve cultural heritage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82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51F9-1DAD-4987-A034-8C355D6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4704"/>
          </a:xfrm>
        </p:spPr>
        <p:txBody>
          <a:bodyPr>
            <a:normAutofit/>
          </a:bodyPr>
          <a:lstStyle/>
          <a:p>
            <a:r>
              <a:rPr lang="en-US" b="1" dirty="0"/>
              <a:t>Promoting Ethics and Moral Responsibility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0FC-A95A-4904-90F2-4B109B8B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9043"/>
            <a:ext cx="10018713" cy="4383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Suggested solutions:</a:t>
            </a:r>
            <a:endParaRPr lang="en-US" dirty="0"/>
          </a:p>
          <a:p>
            <a:r>
              <a:rPr lang="en-US" dirty="0"/>
              <a:t>Strengthen </a:t>
            </a:r>
            <a:r>
              <a:rPr lang="en-US" b="1" dirty="0"/>
              <a:t>ethical education</a:t>
            </a:r>
            <a:r>
              <a:rPr lang="en-US" dirty="0"/>
              <a:t> and civic responsibility</a:t>
            </a:r>
          </a:p>
          <a:p>
            <a:r>
              <a:rPr lang="en-US" dirty="0"/>
              <a:t>Promote integrity, accountability, and transparency in leadership</a:t>
            </a:r>
          </a:p>
          <a:p>
            <a:r>
              <a:rPr lang="en-US" dirty="0"/>
              <a:t>Encourage community values such as </a:t>
            </a:r>
            <a:r>
              <a:rPr lang="en-US" b="1" dirty="0"/>
              <a:t>ubuntu</a:t>
            </a:r>
            <a:endParaRPr lang="en-US" dirty="0"/>
          </a:p>
          <a:p>
            <a:r>
              <a:rPr lang="en-US" dirty="0"/>
              <a:t>Enforce laws against corruption and abuse of power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81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51F9-1DAD-4987-A034-8C355D6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4704"/>
          </a:xfrm>
        </p:spPr>
        <p:txBody>
          <a:bodyPr>
            <a:normAutofit/>
          </a:bodyPr>
          <a:lstStyle/>
          <a:p>
            <a:r>
              <a:rPr lang="en-US" b="1" dirty="0"/>
              <a:t>Aligning Education with Societal Needs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0FC-A95A-4904-90F2-4B109B8B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9043"/>
            <a:ext cx="10018713" cy="4383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Suggested solutions: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Shift from theory-based learning to </a:t>
            </a:r>
            <a:r>
              <a:rPr lang="en-US" b="1" dirty="0"/>
              <a:t>skills-based education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 interdisciplinary studies (like IGS + Computer Science)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 creativity, problem-solving, and innovation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Strengthen partnerships between universities and industry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14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4B8E-BA03-468F-BDF3-BE1D7908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THE END</a:t>
            </a:r>
            <a:endParaRPr lang="en-KE" sz="8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29E3-7566-4127-8D9F-3C67B08B0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GIDEON NYAKUNDI</a:t>
            </a:r>
          </a:p>
          <a:p>
            <a:r>
              <a:rPr lang="en-US" dirty="0"/>
              <a:t>C026-01-0979/2022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96036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</TotalTime>
  <Words>584</Words>
  <Application>Microsoft Office PowerPoint</Application>
  <PresentationFormat>Widescreen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Rounded MT Bold</vt:lpstr>
      <vt:lpstr>Corbel</vt:lpstr>
      <vt:lpstr>Parallax</vt:lpstr>
      <vt:lpstr>Challenges Facing Modern Society</vt:lpstr>
      <vt:lpstr>Rapid Technological Change</vt:lpstr>
      <vt:lpstr>Poor Communication and Misinformation</vt:lpstr>
      <vt:lpstr>Environmental Degradation and Climate Change</vt:lpstr>
      <vt:lpstr>Health Challenges and Lifestyle Diseases</vt:lpstr>
      <vt:lpstr>Cultural Erosion and Identity Crisis</vt:lpstr>
      <vt:lpstr>Ethical and Moral Decline</vt:lpstr>
      <vt:lpstr>Education and Skills Mismatch</vt:lpstr>
      <vt:lpstr>SOLUTIONS </vt:lpstr>
      <vt:lpstr>Managing Rapid Technological Change</vt:lpstr>
      <vt:lpstr>Improving Communication and Combating Misinformation</vt:lpstr>
      <vt:lpstr>Protecting the Environment and Addressing Climate Change</vt:lpstr>
      <vt:lpstr>Improving Health and Well-Being</vt:lpstr>
      <vt:lpstr>Preserving Culture and Identity</vt:lpstr>
      <vt:lpstr>Promoting Ethics and Moral Responsibility</vt:lpstr>
      <vt:lpstr>Aligning Education with Societal Needs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Facing Modern Society</dc:title>
  <dc:creator>GIDEON NYAKUNDI</dc:creator>
  <cp:lastModifiedBy>GIDEON NYAKUNDI</cp:lastModifiedBy>
  <cp:revision>7</cp:revision>
  <dcterms:created xsi:type="dcterms:W3CDTF">2026-02-10T10:09:13Z</dcterms:created>
  <dcterms:modified xsi:type="dcterms:W3CDTF">2026-02-13T15:33:14Z</dcterms:modified>
</cp:coreProperties>
</file>